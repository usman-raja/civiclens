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1828800"/>
            <a:ext cx="3657600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00D4FF"/>
                </a:solidFill>
              </a:defRPr>
            </a:pPr>
            <a:r>
              <a:t>CivicLens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</a:defRPr>
            </a:pPr>
            <a:r>
              <a:t>City-Scale Video Intelligence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</a:defRPr>
            </a:pPr>
            <a:r>
              <a:t>AI-Powered Surveillance | Civic Scoring | Smart Alerts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669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Developed by Usman Farid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0B981"/>
                </a:solidFill>
              </a:defRPr>
            </a:pPr>
            <a:r>
              <a:t>Made in Pakistan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731520"/>
            <a:ext cx="1828800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4FF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94A3B8"/>
                </a:solidFill>
              </a:defRPr>
            </a:pPr>
            <a:r>
              <a:t>  Manual surveillance cannot scale across hundreds of cameras</a:t>
            </a:r>
          </a:p>
          <a:p>
            <a:pPr>
              <a:spcAft>
                <a:spcPts val="800"/>
              </a:spcAft>
              <a:defRPr sz="1600">
                <a:solidFill>
                  <a:srgbClr val="94A3B8"/>
                </a:solidFill>
              </a:defRPr>
            </a:pPr>
            <a:r>
              <a:t>  No automated civic behavior tracking or scoring</a:t>
            </a:r>
          </a:p>
          <a:p>
            <a:pPr>
              <a:spcAft>
                <a:spcPts val="800"/>
              </a:spcAft>
              <a:defRPr sz="1600">
                <a:solidFill>
                  <a:srgbClr val="94A3B8"/>
                </a:solidFill>
              </a:defRPr>
            </a:pPr>
            <a:r>
              <a:t>  Delayed response to security threats and incidents</a:t>
            </a:r>
          </a:p>
          <a:p>
            <a:pPr>
              <a:spcAft>
                <a:spcPts val="800"/>
              </a:spcAft>
              <a:defRPr sz="1600">
                <a:solidFill>
                  <a:srgbClr val="94A3B8"/>
                </a:solidFill>
              </a:defRPr>
            </a:pPr>
            <a:r>
              <a:t>  No centralized platform for city-wide intelligence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731520"/>
            <a:ext cx="1828800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91440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0B981"/>
                </a:solidFill>
              </a:defRPr>
            </a:pPr>
            <a:r>
              <a:t>Our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94A3B8"/>
                </a:solidFill>
              </a:defRPr>
            </a:pPr>
            <a:r>
              <a:t>  AI-powered real-time video analysis across all feeds</a:t>
            </a:r>
          </a:p>
          <a:p>
            <a:pPr>
              <a:spcAft>
                <a:spcPts val="800"/>
              </a:spcAft>
              <a:defRPr sz="1600">
                <a:solidFill>
                  <a:srgbClr val="94A3B8"/>
                </a:solidFill>
              </a:defRPr>
            </a:pPr>
            <a:r>
              <a:t>  Automated civic scoring for every registered citizen</a:t>
            </a:r>
          </a:p>
          <a:p>
            <a:pPr>
              <a:spcAft>
                <a:spcPts val="800"/>
              </a:spcAft>
              <a:defRPr sz="1600">
                <a:solidFill>
                  <a:srgbClr val="94A3B8"/>
                </a:solidFill>
              </a:defRPr>
            </a:pPr>
            <a:r>
              <a:t>  Instant alerts for security, missing persons, crowd surges</a:t>
            </a:r>
          </a:p>
          <a:p>
            <a:pPr>
              <a:spcAft>
                <a:spcPts val="800"/>
              </a:spcAft>
              <a:defRPr sz="1600">
                <a:solidFill>
                  <a:srgbClr val="94A3B8"/>
                </a:solidFill>
              </a:defRPr>
            </a:pPr>
            <a:r>
              <a:t>  Single command center for operators and administrators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CivicLens ingests camera feeds, runs face recognition + object detection + scene analysis,</a:t>
            </a:r>
            <a:br/>
            <a:r>
              <a:t>and turns results into actionable civic events, alerts, and citizen scores.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731520"/>
            <a:ext cx="1828800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4FF"/>
                </a:solidFill>
              </a:defRPr>
            </a:pPr>
            <a:r>
              <a:t>Key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  Face Recognition -- InsightFace embeddings match citizens, watchlist, missing persons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  Object &amp; Scene Detection -- YOLOv8 detects persons, vehicles, unattended bags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  Civic Event Generation -- Jaywalking, littering, loitering, queue discipline, proper disposal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  Civic Scoring -- Auto score 1-10 per citizen based on positive and negative behavior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  Smart Alerts -- Watchlist match, missing person, crowd surge, illegal parking, accidents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8288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  24/7 Monitoring -- Daemon threads per camera, no browser required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  AI Zone Suggestion -- YOLO World + SegFormer auto-suggest road, crosswalk, parking zones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  Bulk Import -- CSV/Excel camera onboarding + ZIP face photo batch import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  Analytics Dashboard -- Charts, incident logs, CSV export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</a:defRPr>
            </a:pPr>
            <a:r>
              <a:t>  Role-Based Access -- JWT auth with admin and operator roles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731520"/>
            <a:ext cx="1828800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4FF"/>
                </a:solidFill>
              </a:defRPr>
            </a:pPr>
            <a:r>
              <a:t>Accident &amp; Road Safety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</a:defRPr>
            </a:pPr>
            <a:r>
              <a:t>5 geometric signal patterns for comprehensive road safety monitoring: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743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F4444"/>
                </a:solidFill>
              </a:defRPr>
            </a:pPr>
            <a:r>
              <a:t>Fallen Person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27432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Detects a person lying on the road surface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3832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F4444"/>
                </a:solidFill>
              </a:defRPr>
            </a:pPr>
            <a:r>
              <a:t>Person Under Vehicle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3832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Identifies a person trapped beneath a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023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9E0B"/>
                </a:solidFill>
              </a:defRPr>
            </a:pPr>
            <a:r>
              <a:t>Stopped Vehicle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40233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Flags vehicles stationary in travel lanes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6634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F4444"/>
                </a:solidFill>
              </a:defRPr>
            </a:pPr>
            <a:r>
              <a:t>Vehicle Collision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6634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Detects two vehicles in contact or overlapping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03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9E0B"/>
                </a:solidFill>
              </a:defRPr>
            </a:pPr>
            <a:r>
              <a:t>Crashed Vehicle Pair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53035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Identifies post-accident vehicle configurations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All detections generate instant alerts with evidence images for operator review.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731520"/>
            <a:ext cx="1828800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4FF"/>
                </a:solidFill>
              </a:defRPr>
            </a:pPr>
            <a: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2D3EE"/>
                </a:solidFill>
              </a:defRPr>
            </a:pPr>
            <a:r>
              <a:t>Backend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20116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FastAPI + SQLAlchemy + SQLite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974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2D3EE"/>
                </a:solidFill>
              </a:defRPr>
            </a:pPr>
            <a:r>
              <a:t>Frontend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2697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Next.js 16 (App Router) + React 19 + Tailwind CSS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</a:defRPr>
            </a:pPr>
            <a:r>
              <a:t>AI / 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33832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InsightFace (buffalo_l) + YOLOv8n + YOLOv8s-worldv2 + SegFormer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0690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2D3EE"/>
                </a:solidFill>
              </a:defRPr>
            </a:pPr>
            <a:r>
              <a:t>Auth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40690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JWT (12h expiry) + bcrypt password hashing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2D3EE"/>
                </a:solidFill>
              </a:defRPr>
            </a:pPr>
            <a:r>
              <a:t>Database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4754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SQLite (single-file, zero-config deployment)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4406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2D3EE"/>
                </a:solidFill>
              </a:defRPr>
            </a:pPr>
            <a:r>
              <a:t>Runtime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54406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Python 3.11 + Node.js 20+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731520"/>
            <a:ext cx="1828800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4FF"/>
                </a:solidFill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</a:defRPr>
            </a:pPr>
            <a:r>
              <a:t>Backend Engine (8 Modules)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  face_engine -- InsightFace embeddings + cosine similarity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  object_engine -- YOLOv8 detection pipeline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  event_engine -- Civic event generation + scoring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  stream_monitor -- 24/7 RTSP/file feed processing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  scene_detector -- Scene understanding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  segmentation_detector -- SegFormer zone polygons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  scoring_engine -- Citizen civic score computation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  security -- Auth + role-based access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</a:defRPr>
            </a:pPr>
            <a:r>
              <a:t>Frontend Pages (11 Views)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3774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  Dashboard -- Real-time overview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  Live Monitoring -- Multi-feed viewing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  Camera Wall -- Control-room grid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  Alerts -- Security notifications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  Profiles -- Citizen registry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  Watchlist -- Red-list monitoring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  Missing Persons -- Search &amp; match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  Analytics -- Charts + CSV export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  Cameras + Zone Editor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  Reports + Settings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486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4FF"/>
                </a:solidFill>
              </a:defRPr>
            </a:pPr>
            <a:r>
              <a:t>57 API endpoints  |  17 database tables  |  Lazy singleton AI models  |  Frame-by-frame detection pipeline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731520"/>
            <a:ext cx="1828800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4FF"/>
                </a:solidFill>
              </a:defRPr>
            </a:pPr>
            <a:r>
              <a:t>User Interface 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2D3EE"/>
                </a:solidFill>
              </a:defRPr>
            </a:pPr>
            <a:r>
              <a:t>Intelligence-Agency HUD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20116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Scanlines, corner brackets, radar sweep, glow effects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</a:defRPr>
            </a:pPr>
            <a:r>
              <a:t>Responsive Layout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6517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Mobile to 4K LED wall -- fluid grids, auto-fill camera wall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918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2D3EE"/>
                </a:solidFill>
              </a:defRPr>
            </a:pPr>
            <a:r>
              <a:t>Large Rotating Radar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329184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Real-time surveillance indicator in sidebar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</a:defRPr>
            </a:pPr>
            <a:r>
              <a:t>Camera Wall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9319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Auto-fill grid: 1 column on phone, 10+ on LED wall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5720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2D3EE"/>
                </a:solidFill>
              </a:defRPr>
            </a:pPr>
            <a:r>
              <a:t>Collapsible Sidebar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45720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Mobile drawer with hamburger toggle, auto-close on nav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120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</a:defRPr>
            </a:pPr>
            <a:r>
              <a:t>Signature Branding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52120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Usman Farid signature + phone in sidebar, Made in Pakistan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731520"/>
            <a:ext cx="1828800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4FF"/>
                </a:solidFill>
              </a:defRPr>
            </a:pPr>
            <a:r>
              <a:t>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0B981"/>
                </a:solidFill>
              </a:defRPr>
            </a:pPr>
            <a:r>
              <a:t>Single-Click Installer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  CivicLens-Setup.exe -- Professional Inno Setup installer with admin permissions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  No Python or Node.js required on target machine -- all runtimes bundled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  Installs to Program Files, creates Start Menu + Desktop shortcuts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  One-click launch: CivicLens.exe starts backend + frontend + opens browser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0B981"/>
                </a:solidFill>
              </a:defRPr>
            </a:pPr>
            <a:r>
              <a:t>System Requirements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2120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94A3B8"/>
                </a:solidFill>
              </a:defRPr>
            </a:pPr>
            <a:r>
              <a:t>  Windows 10/11 (64-bit)</a:t>
            </a:r>
          </a:p>
          <a:p>
            <a:pPr>
              <a:spcAft>
                <a:spcPts val="800"/>
              </a:spcAft>
              <a:defRPr sz="1600">
                <a:solidFill>
                  <a:srgbClr val="94A3B8"/>
                </a:solidFill>
              </a:defRPr>
            </a:pPr>
            <a:r>
              <a:t>  Ports 3000 (frontend) and 8000 (backend) available</a:t>
            </a:r>
          </a:p>
          <a:p>
            <a:pPr>
              <a:spcAft>
                <a:spcPts val="800"/>
              </a:spcAft>
              <a:defRPr sz="1600">
                <a:solidFill>
                  <a:srgbClr val="94A3B8"/>
                </a:solidFill>
              </a:defRPr>
            </a:pPr>
            <a:r>
              <a:t>  Secure first-run administrator bootstrap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731520"/>
            <a:ext cx="1828800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4FF"/>
                </a:solidFill>
              </a:defRPr>
            </a:pPr>
            <a:r>
              <a:t>Scalable Deployment 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</a:defRPr>
            </a:pPr>
            <a:r>
              <a:t>Single Building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7744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  SQLite (zero setup)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  No config needed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  Up to 50 cameras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  Install and run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8288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2D3EE"/>
                </a:solidFill>
              </a:defRPr>
            </a:pPr>
            <a:r>
              <a:t>City District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237744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  PostgreSQL + Redis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  MESSAGE_QUEUE in .env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  50-200 cameras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  Horizontal scaling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8288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59E0B"/>
                </a:solidFill>
              </a:defRPr>
            </a:pPr>
            <a:r>
              <a:t>Full City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37744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  PostgreSQL cluster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  Redis + Edge workers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  200-500+ cameras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  Docker + Kubernetes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</a:defRPr>
            </a:pPr>
            <a:r>
              <a:t>Message Queue (Redis)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0292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Detection events published to Redis, consumed by worker nodes. Add workers to scale horizontally. Enable with one line in .env.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760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</a:defRPr>
            </a:pPr>
            <a:r>
              <a:t>Edge AI Mode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EDGE_MODE=1 in .env: 320px resolution, frame skipping, lower RAM (~500MB). Runs on Raspberry Pi or low-end servers.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731520"/>
            <a:ext cx="1828800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D4FF"/>
                </a:solidFill>
              </a:defRPr>
            </a:pPr>
            <a:r>
              <a:t>Configuration-Driven (Zero Code Changes)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Install once. Configure everything via .env file. No rebuild, no code changes.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0B981"/>
                </a:solidFill>
              </a:defRPr>
            </a:pPr>
            <a:r>
              <a:t>DATABASE_URL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27432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Switch SQLite / PostgreSQL / MySQL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461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2D3EE"/>
                </a:solidFill>
              </a:defRPr>
            </a:pPr>
            <a:r>
              <a:t>MESSAGE_QUEUE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2461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Enable Redis for distributed processing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4903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0B981"/>
                </a:solidFill>
              </a:defRPr>
            </a:pPr>
            <a:r>
              <a:t>EDGE_MODE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3749039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Lightweight mode for edge devices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5195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2D3EE"/>
                </a:solidFill>
              </a:defRPr>
            </a:pPr>
            <a:r>
              <a:t>WORKER_ONLY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251959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Backend-only mode for edge nodes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75487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0B981"/>
                </a:solidFill>
              </a:defRPr>
            </a:pPr>
            <a:r>
              <a:t>STORAGE_RETENTION_DAYS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754879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Auto-cleanup old images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25779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2D3EE"/>
                </a:solidFill>
              </a:defRPr>
            </a:pPr>
            <a:r>
              <a:t>SECRET_KEY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5257799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JWT security key for production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</a:defRPr>
            </a:pPr>
            <a:r>
              <a:t>Full SETUP_GUIDE.md included with step-by-step instructions for every deployment scenario.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731520"/>
            <a:ext cx="1828800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4FF"/>
                </a:solidFill>
              </a:defRPr>
            </a:pPr>
            <a:r>
              <a:t>Future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  Multi-city deployment with centralized cloud backend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  Integration with NADRA and traffic management systems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  License plate recognition (ANPR) for vehicle tracking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  Behavioral prediction using temporal pattern analysis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  Mobile companion app for field officers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  Multi-language support (Urdu, English, regional)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  API marketplace for third-party integrations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  Kubernetes auto-scaling for 1000+ cameras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0" y="2011680"/>
            <a:ext cx="3657600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00D4FF"/>
                </a:solidFill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</a:defRPr>
            </a:pPr>
            <a:r>
              <a:t>CivicLens -- City-Scale Video Intelligence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</a:defRPr>
            </a:pPr>
            <a:r>
              <a:t>Usman Farid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10B981"/>
                </a:solidFill>
              </a:defRPr>
            </a:pPr>
            <a:r>
              <a:t>Made in Pakistan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